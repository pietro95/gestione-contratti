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9ac77825-46c9-c12f-a476-1ba21001fcdf}">
          <p14:sldIdLst>
            <p14:sldId id="256"/>
            <p14:sldId id="257"/>
            <p14:sldId id="258"/>
            <p14:sldId id="259"/>
            <p14:sldId id="260"/>
          </p14:sldIdLst>
        </p14:section>
        <p14:section name="Orientarsi" id="{c7e514e3-0342-e1d4-4c23-2a897e192885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 fabbisogni" id="{ec6b2fdf-63a2-84ce-b019-bf2fe39781e6}">
          <p14:sldIdLst>
            <p14:sldId id="267"/>
            <p14:sldId id="268"/>
            <p14:sldId id="269"/>
          </p14:sldIdLst>
        </p14:section>
        <p14:section name="Procedure del referente" id="{84105594-a77c-eb2b-be5d-3e322c49b9bc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Procedure dell’addetto amministrativo" id="{f17c488a-8e2e-a043-5457-a275bfcd2a4f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Procedure dell’Editor" id="{65a8be23-0b6b-0f97-708a-9038dd7ff202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Procedure dell’Admin" id="{2663a495-9189-1301-88d8-a98be1e7c298}">
          <p14:sldIdLst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Report" id="{d75bd87a-57a4-d5b3-e01e-a5f5b52b301e}">
          <p14:sldIdLst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Chiusura" id="{a7ad9274-607a-cde8-6be5-d81dfc26b03a}">
          <p14:sldIdLst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Messaggio chiave: prima di inserire un contratto o una RDA, verificare che esista il fabbisogno. Un acquisto nuovo richiede prima il fabbisogno.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Ruoli: dai gruppi AD (Admin, Editor, Reader). Referente e addetto non sono ruoli: il referente è un attributo del fabbisogno; l’addetto è una funzione assegnata in amministrazione.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0B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</a:rPr>
              <a:t>Registro contratti ICTDINN — Guida utente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estione-contratti/static/img/logo/siciliacque_bianc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731520" y="731520"/>
            <a:ext cx="274320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Registro contratti ICTDINN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Guida utente — concetti, navigazione e procedure per ruolo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Ufficio ICTDINN · ottobre 2026 · Rev01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Tutto parte dal fabbisogno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Il fabbisogno è il servizio da garantire nel tempo (es. «Licenze gestionale»). Contratti, RDA, fatture, alert e budget sono tutti agganciati a un fabbisogno.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0560" y="310896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480560" y="3108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FABBISOGNO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cluster · referente · decisione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474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Contratti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catena dei rinnovi: ogni rinnovo è un nuovo contratto sullo stesso fabbisogno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1920" y="3383280"/>
            <a:ext cx="548640" cy="0"/>
          </a:xfrm>
          <a:prstGeom prst="line">
            <a:avLst/>
          </a:prstGeom>
          <a:noFill/>
          <a:ln w="19050">
            <a:solidFill>
              <a:srgbClr val="9AA8B8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229600" y="1920240"/>
            <a:ext cx="3474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2011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Richieste di RDA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Nascono dal fabbisogno: rinnovo, primo acquisto o acquisto aggiuntivo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0960" y="3383280"/>
            <a:ext cx="548640" cy="0"/>
          </a:xfrm>
          <a:prstGeom prst="line">
            <a:avLst/>
          </a:prstGeom>
          <a:noFill/>
          <a:ln w="19050">
            <a:solidFill>
              <a:srgbClr val="9AA8B8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57200" y="4663440"/>
            <a:ext cx="3474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Alert e pratica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 limite calcolata sul contratto in scadenza; la pratica di rinnovo ne segue l’avanzamento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1920" y="4206240"/>
            <a:ext cx="548640" cy="0"/>
          </a:xfrm>
          <a:prstGeom prst="line">
            <a:avLst/>
          </a:prstGeom>
          <a:noFill/>
          <a:ln w="19050">
            <a:solidFill>
              <a:srgbClr val="9AA8B8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229600" y="4663440"/>
            <a:ext cx="34747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4754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Budget e previsioni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 contratti previsti si calcolano dal fabbisogno (rinnovi o previsto manuale)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0" y="4206240"/>
            <a:ext cx="548640" cy="0"/>
          </a:xfrm>
          <a:prstGeom prst="line">
            <a:avLst/>
          </a:prstGeom>
          <a:noFill/>
          <a:ln w="19050">
            <a:solidFill>
              <a:srgbClr val="9AA8B8"/>
            </a:solidFill>
            <a:prstDash val="solid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457200" y="621792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</a:rPr>
              <a:t>Fatture ed esecuzione si agganciano al contratto, quindi anch’esse risalgono al fabbisogno.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Fabbisogno e contratto: la differenza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Fabbisogno = il servizio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Vive per anni. Ha cluster, categoria, referente e decisione di continuità: Rinnovare, Da valutare, Sostituire, Dismettere.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08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Contratto = l’istanza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48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Numero SAP, CIG, fornitore, date, voci e importi. Scade: la data di fine e la data limite di avvio si calcolano.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Rinnovo = nuovo contratto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54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 si modifica il vecchio contratto: si registra il successivo sullo stesso fabbisogno, collegato al precedente.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1148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Fabbisogno nuovo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754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un acquisto mai fatto si crea prima il fabbisogno, con il «previsto» (avvio, durata, importo stimato); poi la RDA.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 ciclo di vita, in sintesi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tutti i ruoli, ciascuno nel proprio passo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Quando: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ogni rinnovo o nuovo acquisto ripercorre gli stessi passi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684020" cy="3291840"/>
          </a:xfrm>
          <a:prstGeom prst="roundRect">
            <a:avLst>
              <a:gd name="adj" fmla="val 4344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2268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Fabbisogno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Esiste o si crea (referente).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77796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2369820" y="2286000"/>
            <a:ext cx="1684020" cy="3291840"/>
          </a:xfrm>
          <a:prstGeom prst="roundRect">
            <a:avLst>
              <a:gd name="adj" fmla="val 4344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9842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84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98420" y="3246120"/>
            <a:ext cx="12268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Alert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Il contratto si avvicina alla data limite (cruscotto).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090416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14" name="Shape 12"/>
          <p:cNvSpPr/>
          <p:nvPr/>
        </p:nvSpPr>
        <p:spPr>
          <a:xfrm>
            <a:off x="4282440" y="2286000"/>
            <a:ext cx="1684020" cy="3291840"/>
          </a:xfrm>
          <a:prstGeom prst="roundRect">
            <a:avLst>
              <a:gd name="adj" fmla="val 4344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104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110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11040" y="3246120"/>
            <a:ext cx="12268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Pratica e RDA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Il referente avvia la pratica e chiede la RDA.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03036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5060" y="2286000"/>
            <a:ext cx="1684020" cy="3291840"/>
          </a:xfrm>
          <a:prstGeom prst="roundRect">
            <a:avLst>
              <a:gd name="adj" fmla="val 4344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366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36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23660" y="3246120"/>
            <a:ext cx="12268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SAP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L’addetto inserisce la RDA in SAP e riporta i dati.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15656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24" name="Shape 22"/>
          <p:cNvSpPr/>
          <p:nvPr/>
        </p:nvSpPr>
        <p:spPr>
          <a:xfrm>
            <a:off x="8107680" y="2286000"/>
            <a:ext cx="1684020" cy="3291840"/>
          </a:xfrm>
          <a:prstGeom prst="roundRect">
            <a:avLst>
              <a:gd name="adj" fmla="val 4344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628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362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36280" y="3246120"/>
            <a:ext cx="12268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Contratto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Si registra dalla RDA, collegato al precedente.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828276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20300" y="2286000"/>
            <a:ext cx="1684020" cy="3291840"/>
          </a:xfrm>
          <a:prstGeom prst="roundRect">
            <a:avLst>
              <a:gd name="adj" fmla="val 4344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890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489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248900" y="3246120"/>
            <a:ext cx="12268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Fatture e chiusura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Presa in carico, convalida, RdC, MAP/MIGO, trasferimento, chiusura.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Ruoli e funzioni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lettura: consulta contratti, fabbisogni, fatture e report (es. Procurement, Controllo di gestione).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508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Editor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Modifica fabbisogni e contratti dei propri cluster; RDA, fatture, documenti di esecuzione.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Admin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1488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Tutto quello che fa l’Editor, più import, proposte, configurazione e amministrazione.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Referente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Editor indicato come referente del fabbisogno: chiede le RDA, prende in carico e convalida le fatture.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Addetto amministrativo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Editor con funzione «Amministrazione acquisti» e cluster TUTTI: inserisce RDA in SAP, lavora le fatture.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38160" y="384048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41148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Cluster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IT, TLC, OT, Sicurezza fisica, Innovazione: si modificano solo i dati dei cluster assegnati.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Orientarsi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Come si arriva alle pagine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Accesso all’applicativo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Credenziali aziendali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Nome utente e password di dominio, le stesse del PC.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Sessione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Dura al massimo 8 ore: poi si rientra.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Accesso negato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Senza uno dei gruppi del registro non si entra: contattare ICTDINN.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parti di ogni pagina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n3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Menu laterale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Operatività (lavoro quotidiano), Report, Gestione (solo Admin).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Ricerca globale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Barra in alto: n. contratto, CIG, n. RDA, fornitori, fabbisogni.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Utente e ruolo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 alto a destra, con Esci.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Badge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numeri accanto al menu sono elementi da lavorare.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Dove trovo… (mappa dei percorsi)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Cosa cerco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Come ci arrivo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Alert delle scadenze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Cruscotto → pulsante «Tutti gli alert», oppure clic su un riquadro colorato (rosso, arancione, giallo)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Le mie RDA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Cruscotto → riquadro «I miei acquisti»; tutte: menu Richieste di RDA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Fatture da prendere in carico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Banner azzurro del cruscotto «Vai alle fatture», oppure menu Fatture (badge)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Pratica di rinnovo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Scheda del contratto → scheda «Pratica»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Scadenzario e rate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Scheda del contratto → «Voci e scadenzario»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Proroghe e catena dei rinnovi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Scheda del contratto → «Proroghe e rinnovi»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Documenti, fatture, chiusura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Scheda del contratto → «Esecuzione»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Cruscotto dell’addetto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Menu Report → Cruscotto acquisti (link anche nel cruscotto)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</a:rPr>
                        <a:t>Configurazione, cluster, utenti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</a:rPr>
                        <a:t>Solo Admin: indirizzo /admin/ (Amministrazione)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Arrivare agli alert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n1_home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Cruscotto (prima pagina dopo il login)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Clic su «Tutti gli alert» in alto a destra.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In alternativa, clic su un riquadro colorato: si apre l’elenco già posizionato su quel colore.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riquadro «Proposte d’import» porta invece alle proposte (Admin).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Leggere gli alert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n2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Cruscotto → Tutti gli alert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Filtrare per cluster e categoria, poi «Applica».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Rosso: scaduto senza rinnovo. Arancione: oltre la data limite con pratica non avviata. Giallo: entro la finestra di preavviso.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Clic sul fabbisogno per aprire il contratto e avviare la pratica.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Nessun alert se il fabbisogno è «Dismettere», se c’è già il successore o se il contratto è una tantum.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 fabbisogni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Il punto di partenza di ogni attività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Elenco dei fabbisogni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1_fabb_ele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Menu → Fabbisogni.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Filtri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Testo, cluster, decisione, categoria; «Archiviati» per vedere anche quelli dismessi.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Nuovo fabbisogno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Pulsante in alto a destra (Editor/Admin).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Scheda del fabbisogno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4_fabb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Azioni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Nuova richiesta di RDA, nuovo contratto, nuovo senza contratto, modifica, accorpa, archivia.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Contratti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Tutta la catena dei contratti con stato e alert.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RDA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 richieste aperte per il fabbisogno.</a:t>
            </a:r>
            <a:endParaRPr lang="en-US" sz="1400" dirty="0"/>
          </a:p>
        </p:txBody>
      </p:sp>
      <p:sp>
        <p:nvSpPr>
          <p:cNvPr id="14" name="num3"/>
          <p:cNvSpPr/>
          <p:nvPr/>
        </p:nvSpPr>
        <p:spPr>
          <a:xfrm>
            <a:off x="8229600" y="4645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590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Contratti previsti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rinnovi futuri stimati, che alimentano budget e piano ordini.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Procedure del referente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Fabbisogno, pratica, richiesta di RDA, fatture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Referente: le procedure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Editor referente del fabbisogno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Quando: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quando arriva un alert o serve un nuovo acquisto; ogni settimana per le fatture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A. Nuovo fabbisogno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Per un acquisto mai fatto.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2752344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094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B. Avviare il rinnovo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Pratica: offerta richiesta/ricevuta.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55464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47488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6088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760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C. Richiesta di RDA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Compilare e inviare all’addetto.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50608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42632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7123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D. Seguire le RDA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 miei acquisti, correzioni.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45752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24" name="Shape 22"/>
          <p:cNvSpPr/>
          <p:nvPr/>
        </p:nvSpPr>
        <p:spPr>
          <a:xfrm>
            <a:off x="9637776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66376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6637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66376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E. Fatture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Presa in carico, contratto, importi, convalida.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 Nuovo fabbisogno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1_fabb_ele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→ Fabbisogni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Clic su «Nuovo fabbisogno».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Prima cercare nell’elenco: se il servizio esiste già, non crearne un doppione.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 Nuovo fabbisogno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2_fabb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Fabbisogni → Nuovo fabbisogno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Descrizione chiara del servizio (non del fornitore).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Cluster, categoria, referente.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Decisione di continuità: di norma «Rinnovare».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Stima del prossimo importo.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 Nuovo fabbisogno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2b_fabb_previs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3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Stessa pagina, sezione «previsto»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Solo per un fabbisogno nuovo: data di avvio prevista e durata in mesi (sempre insieme).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Procedura, modalità di fatturazione, natura, conto e WBS previsti.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«Salva».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Il previsto alimenta budget e piano ordini finché non c’è un contratto.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 Nuovo fabbisogno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3_fabb_sch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4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 fabbisogno creato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fabbisogno è registrato.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Da qui si prosegue con «Nuova richiesta di RDA» (procedura 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B. Avviare il rinnovo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9_prat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Alert → contratto → scheda «Pratica»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Scegliere lo stato: «Offerta richiesta» o «Offerta ricevuta».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Data e nota (es. a chi è stata chiesta l’offerta).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«Registra».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Dalla richiesta di RDA in poi lo stato della pratica si aggiorna da solo, seguendo la RDA.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Richiesta di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4_fabb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 fabbisogno (o del contratto in scadenza)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Clic su «Nuova richiesta di RDA».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Lo scopo si imposta da solo: rinnovo se ci sono contratti, primo acquisto se non ci sono.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Richiesta di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5_rda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Nuova richiesta di RDA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Descrizione e intestazione sono precompilate dal fabbisogno e dal fornitore.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Verificare fornitore proposto, richiedente SAP e gruppo acquisti.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Note al buyer, allegati (dove si trovano), RUP, CUP.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Richiesta di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6_rda_posizio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3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Stessa pagina, sezione Posizioni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Una posizione per ogni voce: descrizione breve, gruppo merci, quantità, importo unitario.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«Di cui variabile»: la quota a consumo. La RDA va per l’importo massimo.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Natura, conto, centro di costo e WBS.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Richiesta di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6b_rda_inv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4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Fondo della pagina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«Salva e invia all’addetto» se è completa.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«Salva in bozza» per finirla dopo.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Richiesta di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7_rda_invi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5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della RDA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La fase diventa «Inviata»: ora tocca all’addetto.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Si può ancora correggere con «Correggi» o annullare con motivo.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Se l’addetto la rimanda, la fase diventa «Da correggere» con la sua nota.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D. Seguire le mie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8_home_mi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Cruscotto → I miei acquisti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Elenco delle RDA di cui si è referenti, con la fase.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In evidenza quelle in Bozza e Da correggere: aspettano il referente.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Clic per aprire la scheda.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E. Fatture: prendere in carico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10_fat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→ Fatture (o banner del cruscotto)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filtro «proposte a me» mostra le fatture suggerite al referente.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Selezionare le righe e «Prendi in carico».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Le fatture arrivano ogni settimana dall’estrazione SAP, senza referente.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E. Fatture: prendere in carico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11_fattura_da_prend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della fattura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In alternativa, aprire la fattura e premere «Prendi in carico».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«Fuori registro» se non riguarda il registro (altro ufficio).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E. Fatture: abbinare il contratto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13_assegna_contrat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3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della fattura → 1. Contratto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Scegliere il contratto (proposto dal fornitore) e la voce.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«Assegna al contratto».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E. Fatture: importi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14_impor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4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della fattura → Importi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Valore base prelevato dal contratto (proposto: importo meno oneri e bollo).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Oneri, bollo, IVA compresa; pulsanti di scorporo IVA.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«Salva gli importi».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Il valore base è quello che conta per residuo e avanzamento del contratto.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E. Fatture: convalida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r15_conval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5 di 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della fattura → 2. Convalida del referente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Esito: Convalidabile, Non convalidabile o In attesa.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Nota e, se serve, «bloccata fino al».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«Registra l’esito»: la fattura passa all’addetto (RdC).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Procedure dell’addetto amministrativo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RDA in SAP, contratti, fatture, chiusure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Addetto: le procedure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Chi: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Editor con funzione «Amministrazione acquisti»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Quando: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ogni giorno, partendo dal Cruscotto acquisti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A. Cruscotto acquisti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Cosa c’è da fare oggi.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2752344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0944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B. RDA in SAP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Scheda SAP, numero RDA, rilascio.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55464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47488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6088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7608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C. Contratto da RDA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Registrazione precompilata.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50608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42632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7123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D. Fatture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RdC, MAP/MIGO, trasferimento.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45752" y="3794760"/>
            <a:ext cx="155448" cy="274320"/>
          </a:xfrm>
          <a:prstGeom prst="rtTriangle">
            <a:avLst/>
          </a:prstGeom>
          <a:solidFill>
            <a:schemeClr val="accent2"/>
          </a:solidFill>
          <a:ln/>
        </p:spPr>
      </p:sp>
      <p:sp>
        <p:nvSpPr>
          <p:cNvPr id="24" name="Shape 22"/>
          <p:cNvSpPr/>
          <p:nvPr/>
        </p:nvSpPr>
        <p:spPr>
          <a:xfrm>
            <a:off x="9637776" y="2286000"/>
            <a:ext cx="2066544" cy="329184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66376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6637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66376" y="3246120"/>
            <a:ext cx="16093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E. Chiusura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Contratti da chiudere.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 Cruscotto acquisti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0_home_addet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Cruscotto → link «Cruscotto acquisti»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cruscotto dell’addetto ha il link diretto.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Lo stesso è nel menu Report → Cruscotto acquisti.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A. Cruscotto acquisti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1_cruscot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Report → Cruscotto acquisti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RDA da processare: da inserire in SAP, da sollecitare per il rilascio, da sollecitare al Procurement.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Fatture da lavorare, per passo.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Contratti da chiudere.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Una RDA o una fattura «ferma» oltre i giorni di soglia è in evidenza.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B. Inserire la RDA in SAP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2_rda_scheda_s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Cruscotto acquisti → RDA → scheda «Scheda SAP»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 campi sono nell’ordine della maschera SAP.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«Copia» accanto a ogni campo, da incollare in SAP.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«Copia testo della richiesta» per chi la vuole per mail.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B. Inserire la RDA in SAP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3_dati_s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Stessa pagina, fondo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Dopo l’inserimento: numero RDA (10 cifre, inizia con 51) e data di inserimento.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«Salva i dati SAP»: la fase diventa «Inserita».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Se mancano dati: «Rimanda al referente» con una nota.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B. Inserire la RDA in SAP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3c_rda_rilasci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3 di 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Stessa pagina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Al rilascio in SAP: data dell’ultimo rilascio e «Salva i dati SAP».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La fase diventa «Rilasciata»: si attende il Procurement.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Contratto dalla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4a_rda_regis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della RDA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 contratto emesso: «Registra contratto».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Contratto dalla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4_contratto_da_r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Registra contratto dalla RDA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Fornitore, descrizione, inizio e durata sono proposti.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Inserire numero contratto SAP, data di emissione, CIG, procedura.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Tipo d’acquisto: Servizio (MAP) o Fornitura (MIGO).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Contratto dalla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4b_contratto_vo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3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Stessa pagina, voci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Una voce per posizione della RDA: fisso e massimale variabile.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Correggere con gli importi del contratto emesso.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«Registra contratto».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C. Contratto dalla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4c_contratto_crea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4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 nuovo contratto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contratto è collegato al fabbisogno, al predecessore e alla RDA d’origine.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vecchio contratto esce dagli alert.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Controllare voci e scadenzario.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D. Fatture: RdC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6_r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Fattura → 3. RdC e MAP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Usare i dati e le «Indicazioni per la validazione» da copiare.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Registrare tipo «RdC (ODA/RDC)», numero e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«Registra il documento».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D. Fatture: MAP o MIGO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7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Stessa sezione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tipo è proposto dal contratto: MAP per servizi, MIGO per forniture.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Numero e data, poi «Registra il documento».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D. Fatture: trasferimento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8_trasferi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3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Fattura → 4. Trasferimento per il pagamento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«Copia il commento per PAC» e incollarlo in SAP.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Data del trasferimento, poi «Registra il trasferimento».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D. Fatture: trasferita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a9_trasferi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4 di 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della fattura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Il passo diventa «Trasferita»: la fattura esce dalle viste di lavorazione.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Admin e addetto possono anche riassegnare una fattura a un altro referente.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E. Chiudere un contratto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contratti_da_chiud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Report → Contratti da chiudere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Contratti finiti non ancora chiusi, con il motivo: attestazione mancante, fatture mancanti, pronto da chiudere.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E. Chiudere un contratto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6_esecuzi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Contratto → scheda «Esecuzione»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Registrare l’attestazione di regolare esecuzione (finale).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«Chiudi»: dopo la chiusura non si registrano fatture né documenti; si può annullare.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Procedure dell’Editor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Gestione del contratto e dei dati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azioni sul contratto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1_azio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Scheda del contratto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Nuova RDA, Registra rinnovo, Rinnova senza contratto, Modifica.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«Altre azioni» per le operazioni meno frequenti.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azioni sul contratto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1b_altre_azio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Contratto → Altre azioni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Aggiungi voce, Registra proroga, Collega rinnovo, Sposta su altro fabbisogno, Archivia.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Registrare un rinnovo (senza RDA)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2_rin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Contratto → Registra rinnovo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Usarlo per i rinnovi senza RDA dal portale (es. RDA già in SAP).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Inizio proposto il giorno dopo la fine; durata dal contratto.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Numero contratto, CIG, procedura.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Registrare un rinnovo (senza RDA)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2b_rinnovo_vo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Stessa pagina, voci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Spuntare le voci da riportare e correggere gli importi.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«Registra rinnovo».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553212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66760" y="5532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Con RDA dal portale, usare invece «Registra contratto» dalla RDA.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Registrare una proroga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3_proro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Contratto → Altre azioni → Registra proroga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Data dell’atto, nuova data di fine, riferimento (protocollo).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Importo aggiuntivo facoltativo, con modalità e periodicità.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«Salva»: fine effettiva e alert si ricalcolano.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Generare lo scadenzario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4_vo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Contratto → Voci e scadenzario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Controllare il piano di fatturazione della voce («Modifica»).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«Genera scadenzario».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Generare lo scadenzario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5_scadenz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Finestra di conferma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Confermare: le rate si rigenerano.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Una rata si può poi modificare a mano: resta segnata come modificata.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Piani di fatturazione da verificare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e7_pia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→ Piani da verificare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Piani importati con modalità «Da verificare».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«Imposta il piano» sulla riga: modalità, periodicità, prima fattura.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Poi generare lo scadenzario.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Procedure dell’Admin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Utenti, cluster, import e proposte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Amministrazione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x1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Indirizzo /admin/ (solo Admin)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Tabelle di configurazione: soglie, lead time, parametri, conti, WBS, cluster.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I valori «provvisori» vanno confermati.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Assegnare i cluster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x2_assegnazio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Amministrazione → Assegnazioni di cluster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Per nome utente di dominio, anche prima del primo accesso.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Cluster vuoto = TUTTI (es. addetto).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Un’assegnazione tolta si archivia.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Assegnare la funzione di addetto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x3_funzio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3 di 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Amministrazione → Funzioni degli utenti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Funzione «Amministrazione acquisti» per nome utente.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Non dà permessi: decide cruscotto e viste dell’addetto.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Importare i dati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x4_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Gestione → Import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Scegliere il tipo (contratti, date, conti, tabelle SAP, fatture, esecuzione) e il file.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«Carica e vedi l’anteprima»: nulla è salvato prima della conferma.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Leggere il report delle anomalie, poi confermare.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Valutare le proposte d’import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x5_propo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2 di 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Gestione → Proposte import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Raggruppamenti (stesso fabbisogno) e catene (rinnovo di un precedente).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«Conferma» o «Scarta» per ognuna.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Assegnare le fatture ai referenti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x6_fatture_asseg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188720"/>
            <a:ext cx="14630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Passo 1 di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0" y="1783080"/>
            <a:ext cx="3520440" cy="73152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6350">
            <a:solidFill>
              <a:srgbClr val="D5DD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Dove: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Menu → Fatture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69748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Selezionare le fatture.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«Assegna ai referenti proposti» (Admin e addetto).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Le fatture senza proposta restano nell’elenco.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Report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Per tutti i ruoli, Reader compreso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 Reader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proc/z1_r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Sola lettura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Vede schede ed elenchi senza pulsanti di modifica.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Tutti i cluster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Senza cluster assegnati vede tutto.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Budget, piano ordini, stato RDA: con export XLSX e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Budget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Menu Report → Budget.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Viste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Impegno, cassa, competenza; OPEX e CAPEX.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Esporta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XLSX e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Piano ordini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piano_ord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Menu Report → Piano ordini.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Contenuto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Ordini da avviare e concludere nell’anno, con data limite e procedura.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Frazionamenti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Avviso sugli acquisti da valutare insieme.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Stato delle RDA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stato_delle_r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Menu Report → Stato delle RDA.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Filtri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Cluster, anno, fase, referente, fornitore.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Esporta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XLSX e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Anomalie dell’esecuzione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498080" cy="44780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tmp/claude-0/shots/r_anomalie_esecuzi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498080" cy="4478020"/>
          </a:xfrm>
          <a:prstGeom prst="rect">
            <a:avLst/>
          </a:prstGeom>
        </p:spPr>
      </p:pic>
      <p:sp>
        <p:nvSpPr>
          <p:cNvPr id="5" name="num0"/>
          <p:cNvSpPr/>
          <p:nvPr/>
        </p:nvSpPr>
        <p:spPr>
          <a:xfrm>
            <a:off x="8229600" y="1216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1161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Dove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Menu Report → Anomalie esecuzione.</a:t>
            </a:r>
            <a:endParaRPr lang="en-US" sz="1400" dirty="0"/>
          </a:p>
        </p:txBody>
      </p:sp>
      <p:sp>
        <p:nvSpPr>
          <p:cNvPr id="8" name="num1"/>
          <p:cNvSpPr/>
          <p:nvPr/>
        </p:nvSpPr>
        <p:spPr>
          <a:xfrm>
            <a:off x="8229600" y="2359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04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Controlli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Valore base mancante, fatturato oltre il massimo, chiuso senza attestazione.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8229600" y="350215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44728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Correzione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Dal link alla fattura o al contratto.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Domande e supporto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Ufficio ICTDINN — IT Manager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Le schermate usano dati di prova anonimizzati.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iliacque">
  <a:themeElements>
    <a:clrScheme name="Siciliacque">
      <a:dk1>
        <a:srgbClr val="1F2A37"/>
      </a:dk1>
      <a:lt1>
        <a:srgbClr val="FFFFFF"/>
      </a:lt1>
      <a:dk2>
        <a:srgbClr val="0B3A63"/>
      </a:dk2>
      <a:lt2>
        <a:srgbClr val="EEF3F8"/>
      </a:lt2>
      <a:accent1>
        <a:srgbClr val="0B3A63"/>
      </a:accent1>
      <a:accent2>
        <a:srgbClr val="1E88C8"/>
      </a:accent2>
      <a:accent3>
        <a:srgbClr val="2E9E6A"/>
      </a:accent3>
      <a:accent4>
        <a:srgbClr val="E0A21B"/>
      </a:accent4>
      <a:accent5>
        <a:srgbClr val="C0392B"/>
      </a:accent5>
      <a:accent6>
        <a:srgbClr val="6B7A8F"/>
      </a:accent6>
      <a:hlink>
        <a:srgbClr val="1E88C8"/>
      </a:hlink>
      <a:folHlink>
        <a:srgbClr val="6B7A8F"/>
      </a:folHlink>
    </a:clrScheme>
    <a:fontScheme name="Siciliacq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Guida utente — Registro contratti ICTDINN</dc:title>
  <dc:subject>PptxGenJS Presentation</dc:subject>
  <dc:creator>ICTDINN</dc:creator>
  <cp:lastModifiedBy>ICTDINN</cp:lastModifiedBy>
  <cp:revision>1</cp:revision>
  <dcterms:created xsi:type="dcterms:W3CDTF">2026-10-13T13:18:37Z</dcterms:created>
  <dcterms:modified xsi:type="dcterms:W3CDTF">2026-10-13T13:18:37Z</dcterms:modified>
</cp:coreProperties>
</file>
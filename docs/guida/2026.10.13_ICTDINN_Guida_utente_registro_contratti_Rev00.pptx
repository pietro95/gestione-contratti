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zione" id="{d373ad1b-95b5-7288-b6ce-85d5e5f28b4e}">
          <p14:sldIdLst>
            <p14:sldId id="256"/>
            <p14:sldId id="257"/>
            <p14:sldId id="258"/>
          </p14:sldIdLst>
        </p14:section>
        <p14:section name="Primi passi" id="{181b6504-51e9-88a1-de7b-f954b0af8263}">
          <p14:sldIdLst>
            <p14:sldId id="259"/>
            <p14:sldId id="260"/>
            <p14:sldId id="261"/>
            <p14:sldId id="262"/>
            <p14:sldId id="263"/>
          </p14:sldIdLst>
        </p14:section>
        <p14:section name="Contratti" id="{9cddaf5f-3261-e9f6-d96c-d4cd9558f6f0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Fabbisogni e fornitori" id="{894ec486-c0bf-61f3-3fb1-82f7252748c7}">
          <p14:sldIdLst>
            <p14:sldId id="271"/>
            <p14:sldId id="272"/>
            <p14:sldId id="273"/>
            <p14:sldId id="274"/>
          </p14:sldIdLst>
        </p14:section>
        <p14:section name="Acquisti e fatture" id="{08b7da68-b23f-80cc-30b6-e58215536123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Report" id="{a7c1c41c-84f4-8003-3952-0ef3d6250545}">
          <p14:sldIdLst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Gestione" id="{6f071f6b-4fda-d12b-7717-592607418eaa}">
          <p14:sldIdLst>
            <p14:sldId id="288"/>
            <p14:sldId id="289"/>
            <p14:sldId id="290"/>
          </p14:sldIdLst>
        </p14:section>
        <p14:section name="Chiusura" id="{5042f661-5356-72cf-7188-ab65b304ca57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ruoli derivano dai gruppi di Active Directory. Il ruolo dell’utente è indicato in alto a destra, sotto il 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banner in alto segnala le fatture da prendere in carico, con il collegamento diretto.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date di fine e la data limite non si inseriscono: le calcola l’applicativo da inizio, durata e lead time della procedura.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0B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</a:rPr>
              <a:t>Registro contratti ICTDINN — Guida utente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estione-contratti/static/img/logo/siciliacque_bianc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31520" y="731520"/>
            <a:ext cx="274320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Registro contratti ICTDINN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Guida utente — come usare l’applicativo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Ufficio ICTDINN · ottobre 2026 · Rev00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cosa serve l’applicativo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864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087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Contratti e rinnovi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Registro unico dei contratti IT, TLC, OT, Sicurezza fisica e Innovazione, con la catena dei rinnovi e le proroghe.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4864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50876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5087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Scadenze e alert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1488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Calcola fine effettiva e data limite per avviare il rinnovo, e segnala per tempo cosa sta per scadere.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4864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Acquisti e fatture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7548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Segue RDA, ordini e fatture: dalla richiesta al referente fino alla convalida e al pagamento.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4864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1148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Budget e previsioni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7548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Budget su impegno, cassa e competenza; piano ordini per il Procurement; esportazione XLSX e PDF.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Ruoli e permessi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66160" cy="49377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Reader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Consulta contratti, fabbisogni, fatture e report. Non può modificare dati.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566160" cy="49377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5087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Editor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4884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Inserisce e modifica contratti, voci, scadenzari, RDA e fatture; avanza le pratiche.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234440"/>
            <a:ext cx="3566160" cy="49377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Admin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14884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Come l’Editor, più import dei dati, configurazione e gestione delle proposte d’import.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Primi passi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Accesso, struttura delle pagine e cruscotto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Accesso all’applicativo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Credenziali aziendali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Nome utente e password di dominio (Active Directory), le stesse del PC.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Sessione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Dopo un periodo di inattività la sessione scade: basta rientrare.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Problemi di accesso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Se il login non riesce o il ruolo è sbagliato, contattare l’ufficio ICTDINN.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Come è fatta una pagina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Menu laterale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Operatività (lavoro quotidiano), Report (analisi) e Gestione (import).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Ricerca globale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 alto: contratti, n. contratto, CIG, n. RDA, fornitori, fabbisogni.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Utente e ruolo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Nome, ruolo e pulsante Esci in alto a destra.</a:t>
            </a:r>
            <a:endParaRPr lang="en-US" sz="1400" dirty="0"/>
          </a:p>
        </p:txBody>
      </p:sp>
      <p:sp>
        <p:nvSpPr>
          <p:cNvPr id="14" name="num3"/>
          <p:cNvSpPr/>
          <p:nvPr/>
        </p:nvSpPr>
        <p:spPr>
          <a:xfrm>
            <a:off x="8229600" y="4645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590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Contatori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badge accanto alle voci di menu indicano gli elementi da lavorare.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Il cruscotto: cosa fare oggi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Riquadri di stato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Scaduti senza rinnovo, oltre la data limite, in avvicinamento, proposte d’import.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Da fare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Fabbisogni ordinati per data limite, con lo stato della pratica.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Scadenze a 90 giorni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Contratti che scadono a breve: clic per aprire la scheda.</a:t>
            </a:r>
            <a:endParaRPr lang="en-US" sz="1400" dirty="0"/>
          </a:p>
        </p:txBody>
      </p:sp>
      <p:sp>
        <p:nvSpPr>
          <p:cNvPr id="14" name="num3"/>
          <p:cNvSpPr/>
          <p:nvPr/>
        </p:nvSpPr>
        <p:spPr>
          <a:xfrm>
            <a:off x="8229600" y="4645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590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 miei acquisti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Le RDA di cui si è referenti e la loro fase.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Alert delle scadenze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cruscot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Filtri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Per cluster e categoria; premere Applica.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Gruppi di alert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Scaduti senza rinnovo, oltre la data limite, in avvicinamento.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Giorni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Giorni mancanti (negativi se già superati) alla data limite.</a:t>
            </a:r>
            <a:endParaRPr lang="en-US" sz="1400" dirty="0"/>
          </a:p>
        </p:txBody>
      </p:sp>
      <p:sp>
        <p:nvSpPr>
          <p:cNvPr id="14" name="num3"/>
          <p:cNvSpPr/>
          <p:nvPr/>
        </p:nvSpPr>
        <p:spPr>
          <a:xfrm>
            <a:off x="8229600" y="4645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590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Pratica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Stato della pratica di rinnovo: non avviata, in corso, ecc.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Contratti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Registro, scheda del contratto, scadenzario, rinnovi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Elenco dei contratti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contrat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Ricerca e filtri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Descrizione, n. contratto, CIG, fornitore; cluster, stato, alert, anno.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Colonne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Fabbisogno, fornitore, n. contratto, CIG, inizio, fine, stato, alert.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Nuovo contratto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Pulsante in alto a destra (Editor/Admin).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Inserire un nuovo contratto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nuovo_contrat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Passo 1 — Contratto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Fabbisogno, fornitore, descrizione, tipo, ordine e procedura, CIG.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Passo 2 — Voci e fatturazione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Importi fissi e massimali, conti, modalità e periodicità di fatturazione.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Passo 3 — Scadenzario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Rate generate automaticamente, modificabili a mano.</a:t>
            </a:r>
            <a:endParaRPr lang="en-US" sz="1400" dirty="0"/>
          </a:p>
        </p:txBody>
      </p:sp>
      <p:sp>
        <p:nvSpPr>
          <p:cNvPr id="14" name="num3"/>
          <p:cNvSpPr/>
          <p:nvPr/>
        </p:nvSpPr>
        <p:spPr>
          <a:xfrm>
            <a:off x="8229600" y="4645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590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Avanti / Annulla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Si può interrompere: i dati salvati restano.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Scheda del contratto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c_r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Azioni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Nuova RDA, registra rinnovo, rinnova senza contratto, modifica, altre azioni.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Indicatori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Fine effettiva, data limite di avvio, valore probabile e valore massimo.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Schede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Riepilogo, voci e scadenzario, proroghe e rinnovi, pratica, esecuzione, storico.</a:t>
            </a:r>
            <a:endParaRPr lang="en-US" sz="1400" dirty="0"/>
          </a:p>
        </p:txBody>
      </p:sp>
      <p:sp>
        <p:nvSpPr>
          <p:cNvPr id="14" name="num3"/>
          <p:cNvSpPr/>
          <p:nvPr/>
        </p:nvSpPr>
        <p:spPr>
          <a:xfrm>
            <a:off x="8229600" y="4645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590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Riepilogo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Riferimenti (fabbisogno, fornitore, CIG, procedura, natura) e date.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Voci e scadenzario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c_vo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Voce di contratto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Ogni voce ha importo fisso, massimale, natura (OPEX/CAPEX) e conto.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Genera scadenzario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Crea le rate dal piano di fatturazione; i totali quadrano al centesimo.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Modifica rata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Una rata si può correggere a mano: la modifica resta tracciata.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Proroghe e rinnovi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c_prorog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Catena dei rinnovi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contratti che si succedono per lo stesso fabbisogno, in ordine.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Proroghe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Registra proroga: sposta la fine effettiva del contratto.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Registra rinnovo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Dalla barra azioni: crea il contratto successivo collegato.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Pratica di rinnovo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c_prat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Stato corrente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Non avviata, offerta richiesta, ecc.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Registrare un passaggio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Scegliere il nuovo stato, la data e una nota, poi Registra.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Effetto sugli alert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Una pratica avviata toglie il contratto da “oltre la data limite”.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Fabbisogni e fornitori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Il bisogno da coprire e chi lo fornisce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Fabbisogni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fabbisog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Cos’è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Il servizio o bene da garantire nel tempo; i contratti ne sono la copertura.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Decisione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Rinnovare, dismettere, da classificare: guida alert e previsioni.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Nuovo fabbisogno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Anche senza contratto, per prevedere un acquisto futuro.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Scheda del fabbisogno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fabbisog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Contratti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Tutti i contratti che lo hanno coperto, con stato e alert.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Richieste di RDA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Le RDA aperte per questo fabbisogno.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Contratti previsti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Periodi futuri stimati con natura e importo previsto.</a:t>
            </a:r>
            <a:endParaRPr lang="en-US" sz="1400" dirty="0"/>
          </a:p>
        </p:txBody>
      </p:sp>
      <p:sp>
        <p:nvSpPr>
          <p:cNvPr id="14" name="num3"/>
          <p:cNvSpPr/>
          <p:nvPr/>
        </p:nvSpPr>
        <p:spPr>
          <a:xfrm>
            <a:off x="8229600" y="4645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590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Azioni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Nuova RDA, nuovo contratto, accorpa, archivia.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Fornitori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fornito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Anagrafica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Ragione sociale, P.IVA, codice SAP, numero di contratti.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Scheda fornitore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Contratti del fornitore e storico delle modifiche.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Nuovo fornitore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Pulsante in alto a destra.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Acquisti e fatture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RDA, fatture e piani di fatturazione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Richieste di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r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Elenco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RDA con fabbisogno, referente, fase, data e importo.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Nuova RDA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Si crea dalla scheda di un contratto o di un fabbisogno.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Registra una RDA già in SAP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Per le RDA nate fuori dal portale.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Scheda della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rda_d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Fase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Bozza → inviata all’addetto → inserita in SAP → contratto.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Scheda SAP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campi nell’ordine della maschera SAP, con pulsante Copia.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Azioni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Invia all’addetto, modifica, annulla; collega pratica o contratto.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Fatture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fat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Origine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Arrivano dall’estrazione settimanale, senza referente né contratto.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Da prendere in carico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Filtro rapido; Prendi in carico assegna la fattura a sé.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Assegnazione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Assegna ai referenti proposti in base al contratto suggerito.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Lavorare una fattura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fat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Prendi in carico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 fattura diventa propria; si può lasciare o riassegnare.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Contratto e voce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Abbinare il contratto (e la rata) cui la fattura si riferisce.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Convalida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Esito: convalidabile, non convalidabile, in attesa, con nota.</a:t>
            </a:r>
            <a:endParaRPr lang="en-US" sz="1400" dirty="0"/>
          </a:p>
        </p:txBody>
      </p:sp>
      <p:sp>
        <p:nvSpPr>
          <p:cNvPr id="14" name="num3"/>
          <p:cNvSpPr/>
          <p:nvPr/>
        </p:nvSpPr>
        <p:spPr>
          <a:xfrm>
            <a:off x="8229600" y="4645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590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RdC, MAP/MIGO, trasferimento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Passi successivi fino all’invio al pagamento.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Piani di fatturazione da verificare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pia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Perché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Piani importati da controllare prima di generare lo scadenzario.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Verifica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Controllare natura, periodo, fisso e massimale.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Imposta il piano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Pulsante sulla riga: apre la voce per completarla.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Report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Budget, piano ordini, cruscotto acquisti e controlli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Budget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r_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Viste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Impegno, cassa e competenza; OPEX e CAPEX.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Filtri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Anno, ambito, cluster, conto, fornitori, previsti.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Esporta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XLSX per l’elaborazione, PDF per la condivisione.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Piano ordini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r_piano_ordi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Per il Procurement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Ordini da emettere nell’anno, con data limite e procedura.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Possibili frazionamenti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Avviso sugli acquisti dello stesso fornitore da valutare insieme.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Esporta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XLSX e PDF.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Cruscotto acquisti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r_cruscotto_acquis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RDA da processare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Da inserire in SAP, da sollecitare, da sollecitare al Procurement.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Fatture da lavorare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Da convalidare, da assegnare, RdC e MAP/MIGO da fare.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Contratti da chiudere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Accesso rapido ai contratti esauriti.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Stato delle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r_stato_delle_r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Filtri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Cluster, anno, fase, referente, fornitore.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Totali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Numero di RDA e importo complessivo per fase.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Esporta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XLSX e PDF.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Contratti da chiudere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r_contratti_da_chiud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Cosa mostra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Contratti finiti con residuo, fatturato e avanzamento.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Motivo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Es. esaurimento massimale, fine effettiva superata.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Chiusura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Dalla scheda contratto: Altre azioni → Chiudi.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Anomalie dell’esecuzione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r_anomalie_esecuzi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Controlli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Fatture senza valore base, residui incoerenti, avanzamento anomalo.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Correzione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Aprire contratto o fattura dal link e sistemare il dato.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Esporta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XLSX e PDF per la verifica con l’amministrazione.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Gestione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Import dei dati e proposte (Admin)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Import dei dati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im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File gestiti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Excel dei contratti, date, piano dei conti, tabelle SAP, fatture, esecuzione.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Anteprima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Carica e vedi l’anteprima: nulla viene salvato prima della conferma.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 anomalie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Ogni import produce l’elenco delle righe scartate o dubbie.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Proposte dell’import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propo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Raggruppamenti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Contratti che sembrano appartenere allo stesso fabbisogno.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Catene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Contratti che sembrano il rinnovo di un precedente.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Conferma / Scarta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Ogni proposta si accetta o si rifiuta singolarmente.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Domande e supporto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Ufficio ICTDINN — IT Manager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Le schermate di questa guida usano dati di prova anonimizzati.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ciliacque">
  <a:themeElements>
    <a:clrScheme name="Siciliacque">
      <a:dk1>
        <a:srgbClr val="1F2A37"/>
      </a:dk1>
      <a:lt1>
        <a:srgbClr val="FFFFFF"/>
      </a:lt1>
      <a:dk2>
        <a:srgbClr val="0B3A63"/>
      </a:dk2>
      <a:lt2>
        <a:srgbClr val="EEF3F8"/>
      </a:lt2>
      <a:accent1>
        <a:srgbClr val="0B3A63"/>
      </a:accent1>
      <a:accent2>
        <a:srgbClr val="1E88C8"/>
      </a:accent2>
      <a:accent3>
        <a:srgbClr val="2E9E6A"/>
      </a:accent3>
      <a:accent4>
        <a:srgbClr val="E0A21B"/>
      </a:accent4>
      <a:accent5>
        <a:srgbClr val="C0392B"/>
      </a:accent5>
      <a:accent6>
        <a:srgbClr val="6B7A8F"/>
      </a:accent6>
      <a:hlink>
        <a:srgbClr val="1E88C8"/>
      </a:hlink>
      <a:folHlink>
        <a:srgbClr val="6B7A8F"/>
      </a:folHlink>
    </a:clrScheme>
    <a:fontScheme name="Siciliacqu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Guida utente — Registro contratti ICTDINN</dc:title>
  <dc:subject>PptxGenJS Presentation</dc:subject>
  <dc:creator>ICTDINN</dc:creator>
  <cp:lastModifiedBy>ICTDINN</cp:lastModifiedBy>
  <cp:revision>1</cp:revision>
  <dcterms:created xsi:type="dcterms:W3CDTF">2026-10-13T12:56:38Z</dcterms:created>
  <dcterms:modified xsi:type="dcterms:W3CDTF">2026-10-13T12:56:38Z</dcterms:modified>
</cp:coreProperties>
</file>